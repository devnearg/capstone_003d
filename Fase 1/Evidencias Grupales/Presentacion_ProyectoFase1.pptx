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y6CQsYpiKs5GWYc37tiAYUAyg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1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tryaigap.vercel.app/" TargetMode="External"/><Relationship Id="rId4" Type="http://schemas.openxmlformats.org/officeDocument/2006/relationships/hyperlink" Target="https://tryaigap.vercel.app/" TargetMode="External"/><Relationship Id="rId5" Type="http://schemas.openxmlformats.org/officeDocument/2006/relationships/hyperlink" Target="https://tryaigap-version-inicial.vercel.app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-2377440"/>
            <a:ext cx="5943600" cy="5943600"/>
          </a:xfrm>
          <a:prstGeom prst="ellipse">
            <a:avLst/>
          </a:prstGeom>
          <a:solidFill>
            <a:srgbClr val="141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10424160" y="4206240"/>
            <a:ext cx="3291840" cy="3291840"/>
          </a:xfrm>
          <a:prstGeom prst="ellipse">
            <a:avLst/>
          </a:prstGeom>
          <a:solidFill>
            <a:srgbClr val="0FA3B1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brain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5042" y="102504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 txBox="1"/>
          <p:nvPr/>
        </p:nvSpPr>
        <p:spPr>
          <a:xfrm>
            <a:off x="822960" y="21488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PROYECTO APT · DEFINICIÓN FASE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777240" y="2514600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Plataforma de AI Assessment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822960" y="370332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E7EAF1"/>
                </a:solidFill>
                <a:latin typeface="Calibri"/>
                <a:ea typeface="Calibri"/>
                <a:cs typeface="Calibri"/>
                <a:sym typeface="Calibri"/>
              </a:rPr>
              <a:t>Proyecto Alloxentric TryAIGap — diagnóstico y priorización cuantitativa de oportunidades de inteligencia artificial en empresas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822960" y="4709160"/>
            <a:ext cx="4754880" cy="0"/>
          </a:xfrm>
          <a:prstGeom prst="straightConnector1">
            <a:avLst/>
          </a:prstGeom>
          <a:noFill/>
          <a:ln cap="flat" cmpd="sng" w="19050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 txBox="1"/>
          <p:nvPr/>
        </p:nvSpPr>
        <p:spPr>
          <a:xfrm>
            <a:off x="822960" y="493776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DuocUC — Capstone 003D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E7EAF1"/>
                </a:solidFill>
                <a:latin typeface="Calibri"/>
                <a:ea typeface="Calibri"/>
                <a:cs typeface="Calibri"/>
                <a:sym typeface="Calibri"/>
              </a:rPr>
              <a:t>Matías González · Fabrizio Martínez · Matías López</a:t>
            </a:r>
            <a:br>
              <a:rPr b="0" i="0" lang="en-US" sz="1250" u="none" cap="none" strike="noStrike">
                <a:solidFill>
                  <a:srgbClr val="E7EAF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50" u="none" cap="none" strike="noStrike">
                <a:solidFill>
                  <a:srgbClr val="E7EAF1"/>
                </a:solidFill>
                <a:latin typeface="Calibri"/>
                <a:ea typeface="Calibri"/>
                <a:cs typeface="Calibri"/>
                <a:sym typeface="Calibri"/>
              </a:rPr>
              <a:t>Docente: Luis Bravo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EL PROBLEMA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La IA empresarial falla por método, no por tecnología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640080" y="1965960"/>
            <a:ext cx="4114800" cy="4023360"/>
          </a:xfrm>
          <a:prstGeom prst="roundRect">
            <a:avLst>
              <a:gd fmla="val 272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 txBox="1"/>
          <p:nvPr/>
        </p:nvSpPr>
        <p:spPr>
          <a:xfrm>
            <a:off x="914400" y="2423160"/>
            <a:ext cx="3566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B32B"/>
              </a:buClr>
              <a:buSzPts val="5800"/>
              <a:buFont typeface="Cambria"/>
              <a:buNone/>
            </a:pPr>
            <a:r>
              <a:rPr b="1" i="0" lang="en-US" sz="5800" u="none" cap="none" strike="noStrike">
                <a:solidFill>
                  <a:srgbClr val="F7B32B"/>
                </a:solidFill>
                <a:latin typeface="Cambria"/>
                <a:ea typeface="Cambria"/>
                <a:cs typeface="Cambria"/>
                <a:sym typeface="Cambria"/>
              </a:rPr>
              <a:t>70–85%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914400" y="356616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los proyectos de IA en empresas no logra entregar el valor esperado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914400" y="4754880"/>
            <a:ext cx="3566160" cy="0"/>
          </a:xfrm>
          <a:prstGeom prst="straightConnector1">
            <a:avLst/>
          </a:prstGeom>
          <a:noFill/>
          <a:ln cap="flat" cmpd="sng" w="12700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"/>
          <p:cNvSpPr txBox="1"/>
          <p:nvPr/>
        </p:nvSpPr>
        <p:spPr>
          <a:xfrm>
            <a:off x="914400" y="493776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1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E7EAF1"/>
                </a:solidFill>
                <a:latin typeface="Calibri"/>
                <a:ea typeface="Calibri"/>
                <a:cs typeface="Calibri"/>
                <a:sym typeface="Calibri"/>
              </a:rPr>
              <a:t>Fuente: análisis interno del equipo, basado en experiencia de la industria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166360" y="1965960"/>
            <a:ext cx="548640" cy="5486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target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9006" y="210860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/>
          <p:nvPr/>
        </p:nvSpPr>
        <p:spPr>
          <a:xfrm>
            <a:off x="5897880" y="1947672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Estrategia mal alineada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5897880" y="2276856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Se elige la IA antes de entender el proceso de negocio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166360" y="2926080"/>
            <a:ext cx="548640" cy="5486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database.png" id="43" name="Google Shape;4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09006" y="306872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 txBox="1"/>
          <p:nvPr/>
        </p:nvSpPr>
        <p:spPr>
          <a:xfrm>
            <a:off x="5897880" y="2907792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Datos no preparados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5897880" y="3236976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Falta de estructura y calidad en la información disponible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166360" y="3886200"/>
            <a:ext cx="548640" cy="5486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ogs.png" id="47" name="Google Shape;4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9006" y="402884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 txBox="1"/>
          <p:nvPr/>
        </p:nvSpPr>
        <p:spPr>
          <a:xfrm>
            <a:off x="5897880" y="3867912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Tipo de IA incorrecto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5897880" y="4197096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Reglas, ML o IA generativa aplicados sin criterio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166360" y="4846320"/>
            <a:ext cx="548640" cy="5486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users.png" id="51" name="Google Shape;5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9006" y="4988966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 txBox="1"/>
          <p:nvPr/>
        </p:nvSpPr>
        <p:spPr>
          <a:xfrm>
            <a:off x="5897880" y="4828032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Adopción deficiente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5897880" y="5157216"/>
            <a:ext cx="5577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Los equipos no se involucran en el cambio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640080" y="822960"/>
            <a:ext cx="108813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Una plataforma que diagnostica y prioriza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oportunidades de 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640080" y="2148840"/>
            <a:ext cx="6400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La Plataforma de AI Assessment aplica una metodología estructurada de siete módulos —desde la alineación estratégica hasta la implementación y gestión del cambio— para que cualquier organización identifique, priorice y ejecute sus iniciativas de inteligencia artificial de forma cuantitativa y objetiva.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4160520"/>
            <a:ext cx="1965960" cy="457200"/>
          </a:xfrm>
          <a:prstGeom prst="roundRect">
            <a:avLst>
              <a:gd fmla="val 50000" name="adj"/>
            </a:avLst>
          </a:prstGeom>
          <a:solidFill>
            <a:srgbClr val="E7EA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640080" y="416052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6 módulos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788920" y="4160520"/>
            <a:ext cx="1965960" cy="457200"/>
          </a:xfrm>
          <a:prstGeom prst="roundRect">
            <a:avLst>
              <a:gd fmla="val 50000" name="adj"/>
            </a:avLst>
          </a:prstGeom>
          <a:solidFill>
            <a:srgbClr val="E7EA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2788920" y="416052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6 kits de área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937760" y="4160520"/>
            <a:ext cx="1965960" cy="457200"/>
          </a:xfrm>
          <a:prstGeom prst="roundRect">
            <a:avLst>
              <a:gd fmla="val 50000" name="adj"/>
            </a:avLst>
          </a:prstGeom>
          <a:solidFill>
            <a:srgbClr val="E7EA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/>
        </p:nvSpPr>
        <p:spPr>
          <a:xfrm>
            <a:off x="4937760" y="4160520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API REST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 txBox="1"/>
          <p:nvPr/>
        </p:nvSpPr>
        <p:spPr>
          <a:xfrm>
            <a:off x="640080" y="48920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Caso de aplicación real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640080" y="5193792"/>
            <a:ext cx="6400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Industrial AI Suite: mantenimiento predictivo, gestión de riesgo, onboarding de personal y cumplimiento normativo en plantas industriales.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452360" y="2103120"/>
            <a:ext cx="4069080" cy="4023360"/>
          </a:xfrm>
          <a:prstGeom prst="roundRect">
            <a:avLst>
              <a:gd fmla="val 2727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 txBox="1"/>
          <p:nvPr/>
        </p:nvSpPr>
        <p:spPr>
          <a:xfrm>
            <a:off x="7726680" y="233172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datos a decisiones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726680" y="2880360"/>
            <a:ext cx="365760" cy="36576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7726680" y="28803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8229600" y="289864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Captura de diagnóstico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3"/>
          <p:cNvCxnSpPr/>
          <p:nvPr/>
        </p:nvCxnSpPr>
        <p:spPr>
          <a:xfrm>
            <a:off x="7909560" y="3264408"/>
            <a:ext cx="0" cy="384048"/>
          </a:xfrm>
          <a:prstGeom prst="straightConnector1">
            <a:avLst/>
          </a:prstGeom>
          <a:noFill/>
          <a:ln cap="flat" cmpd="sng" w="12700">
            <a:solidFill>
              <a:srgbClr val="0FA3B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77" name="Google Shape;77;p3"/>
          <p:cNvSpPr/>
          <p:nvPr/>
        </p:nvSpPr>
        <p:spPr>
          <a:xfrm>
            <a:off x="7726680" y="3721608"/>
            <a:ext cx="365760" cy="36576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 txBox="1"/>
          <p:nvPr/>
        </p:nvSpPr>
        <p:spPr>
          <a:xfrm>
            <a:off x="7726680" y="37216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 txBox="1"/>
          <p:nvPr/>
        </p:nvSpPr>
        <p:spPr>
          <a:xfrm>
            <a:off x="8229600" y="3739896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Cálculo de indicadores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3"/>
          <p:cNvCxnSpPr/>
          <p:nvPr/>
        </p:nvCxnSpPr>
        <p:spPr>
          <a:xfrm>
            <a:off x="7909560" y="4105656"/>
            <a:ext cx="0" cy="384048"/>
          </a:xfrm>
          <a:prstGeom prst="straightConnector1">
            <a:avLst/>
          </a:prstGeom>
          <a:noFill/>
          <a:ln cap="flat" cmpd="sng" w="12700">
            <a:solidFill>
              <a:srgbClr val="0FA3B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1" name="Google Shape;81;p3"/>
          <p:cNvSpPr/>
          <p:nvPr/>
        </p:nvSpPr>
        <p:spPr>
          <a:xfrm>
            <a:off x="7726680" y="4562856"/>
            <a:ext cx="365760" cy="36576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 txBox="1"/>
          <p:nvPr/>
        </p:nvSpPr>
        <p:spPr>
          <a:xfrm>
            <a:off x="7726680" y="45628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 txBox="1"/>
          <p:nvPr/>
        </p:nvSpPr>
        <p:spPr>
          <a:xfrm>
            <a:off x="8229600" y="4581144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Recomendaciones priorizadas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" name="Google Shape;84;p3"/>
          <p:cNvCxnSpPr/>
          <p:nvPr/>
        </p:nvCxnSpPr>
        <p:spPr>
          <a:xfrm>
            <a:off x="7909560" y="4946904"/>
            <a:ext cx="0" cy="384048"/>
          </a:xfrm>
          <a:prstGeom prst="straightConnector1">
            <a:avLst/>
          </a:prstGeom>
          <a:noFill/>
          <a:ln cap="flat" cmpd="sng" w="12700">
            <a:solidFill>
              <a:srgbClr val="0FA3B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5" name="Google Shape;85;p3"/>
          <p:cNvSpPr/>
          <p:nvPr/>
        </p:nvSpPr>
        <p:spPr>
          <a:xfrm>
            <a:off x="7726680" y="5404104"/>
            <a:ext cx="365760" cy="36576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 txBox="1"/>
          <p:nvPr/>
        </p:nvSpPr>
        <p:spPr>
          <a:xfrm>
            <a:off x="7726680" y="540410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 txBox="1"/>
          <p:nvPr/>
        </p:nvSpPr>
        <p:spPr>
          <a:xfrm>
            <a:off x="8229600" y="542239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Hoja de ruta de implementación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Seis módulos, de la estrategia a la implementación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40080" y="1874520"/>
            <a:ext cx="352044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868680" y="210312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 txBox="1"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868680" y="278892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Fundamentos y Estrategia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343400" y="1874520"/>
            <a:ext cx="352044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572000" y="210312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457200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4572000" y="278892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Diagnóstico y Oportunidades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046720" y="1874520"/>
            <a:ext cx="352044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8275320" y="210312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8275320" y="21031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8275320" y="278892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Portafolio de Innovación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40080" y="3749040"/>
            <a:ext cx="352044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868680" y="397764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6868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 txBox="1"/>
          <p:nvPr/>
        </p:nvSpPr>
        <p:spPr>
          <a:xfrm>
            <a:off x="868680" y="4663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Marco de Decisión IA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343400" y="3749040"/>
            <a:ext cx="352044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572000" y="397764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457200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4572000" y="4663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Áreas de Aplicación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046720" y="3749040"/>
            <a:ext cx="3520440" cy="1691640"/>
          </a:xfrm>
          <a:prstGeom prst="roundRect">
            <a:avLst>
              <a:gd fmla="val 5405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38100">
              <a:srgbClr val="1E2761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8275320" y="3977640"/>
            <a:ext cx="502920" cy="502920"/>
          </a:xfrm>
          <a:prstGeom prst="roundRect">
            <a:avLst>
              <a:gd fmla="val 50909" name="adj"/>
            </a:avLst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 txBox="1"/>
          <p:nvPr/>
        </p:nvSpPr>
        <p:spPr>
          <a:xfrm>
            <a:off x="8275320" y="39776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 txBox="1"/>
          <p:nvPr/>
        </p:nvSpPr>
        <p:spPr>
          <a:xfrm>
            <a:off x="8275320" y="466344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Implementación y Cambio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Un módulo transversal conduce al siguiente: alineación estratégica → diagnóstico → priorización → decisión tecnológica → despliegue por área → adopción organizacional.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B3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7B32B"/>
                </a:solidFill>
                <a:latin typeface="Calibri"/>
                <a:ea typeface="Calibri"/>
                <a:cs typeface="Calibri"/>
                <a:sym typeface="Calibri"/>
              </a:rPr>
              <a:t>APLICACIÓN PRÁCTICA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Kits de diagnóstico por área funcional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7EAF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7EAF1"/>
                </a:solidFill>
                <a:latin typeface="Calibri"/>
                <a:ea typeface="Calibri"/>
                <a:cs typeface="Calibri"/>
                <a:sym typeface="Calibri"/>
              </a:rPr>
              <a:t>Cada kit incluye catálogo de casos de uso, cuestionario de diagnóstico y canvas de trabajo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640080" y="2057400"/>
            <a:ext cx="3520440" cy="1737360"/>
          </a:xfrm>
          <a:prstGeom prst="roundRect">
            <a:avLst>
              <a:gd fmla="val 5263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896112" y="2313432"/>
            <a:ext cx="548640" cy="5486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hart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8758" y="245607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 txBox="1"/>
          <p:nvPr/>
        </p:nvSpPr>
        <p:spPr>
          <a:xfrm>
            <a:off x="896112" y="3017520"/>
            <a:ext cx="30083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Finanzas y Administración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343400" y="2057400"/>
            <a:ext cx="3520440" cy="1737360"/>
          </a:xfrm>
          <a:prstGeom prst="roundRect">
            <a:avLst>
              <a:gd fmla="val 5263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4599432" y="2313432"/>
            <a:ext cx="548640" cy="5486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users.png" id="136" name="Google Shape;13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2078" y="245607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4599432" y="3017520"/>
            <a:ext cx="30083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 — Demand Gen B2B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8046720" y="2057400"/>
            <a:ext cx="3520440" cy="1737360"/>
          </a:xfrm>
          <a:prstGeom prst="roundRect">
            <a:avLst>
              <a:gd fmla="val 5263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8302752" y="2313432"/>
            <a:ext cx="548640" cy="5486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handshake.png" id="140" name="Google Shape;14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5398" y="245607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8302752" y="3017520"/>
            <a:ext cx="30083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Ventas B2B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40080" y="3977640"/>
            <a:ext cx="3520440" cy="1737360"/>
          </a:xfrm>
          <a:prstGeom prst="roundRect">
            <a:avLst>
              <a:gd fmla="val 5263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896112" y="4233672"/>
            <a:ext cx="548640" cy="5486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ogs.png" id="144" name="Google Shape;14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38758" y="437631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 txBox="1"/>
          <p:nvPr/>
        </p:nvSpPr>
        <p:spPr>
          <a:xfrm>
            <a:off x="896112" y="4937760"/>
            <a:ext cx="30083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Operaciones — Planta PYME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343400" y="3977640"/>
            <a:ext cx="3520440" cy="1737360"/>
          </a:xfrm>
          <a:prstGeom prst="roundRect">
            <a:avLst>
              <a:gd fmla="val 5263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4599432" y="4233672"/>
            <a:ext cx="548640" cy="5486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users.png" id="148" name="Google Shape;14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2078" y="437631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5"/>
          <p:cNvSpPr txBox="1"/>
          <p:nvPr/>
        </p:nvSpPr>
        <p:spPr>
          <a:xfrm>
            <a:off x="4599432" y="4937760"/>
            <a:ext cx="30083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RRHH y Talento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8046720" y="3977640"/>
            <a:ext cx="3520440" cy="1737360"/>
          </a:xfrm>
          <a:prstGeom prst="roundRect">
            <a:avLst>
              <a:gd fmla="val 5263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8302752" y="4233672"/>
            <a:ext cx="548640" cy="54864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shield.png" id="152" name="Google Shape;152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45398" y="4376318"/>
            <a:ext cx="263347" cy="26334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8302752" y="4937760"/>
            <a:ext cx="3008376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 al Cliente B2B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RELEVANCIA LABORAL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Un proyecto alineado con la demanda actual del mercado TI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640080" y="1920240"/>
            <a:ext cx="108813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El mercado demanda cada vez más profesionales capaces de diagnosticar dónde aplicar inteligencia artificial y cómo hacerlo de forma responsable, no solo de programarla. El proyecto simula ese escenario real de ejercicio profesional en Ingeniería en Informática.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40080" y="3063240"/>
            <a:ext cx="265176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868680" y="32918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ode.png" id="165" name="Google Shape;1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439" y="342259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6"/>
          <p:cNvSpPr txBox="1"/>
          <p:nvPr/>
        </p:nvSpPr>
        <p:spPr>
          <a:xfrm>
            <a:off x="841248" y="3977640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Levantamiento de requerimientos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841248" y="4636008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Historias de usuario, casos de uso y modelado UML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456432" y="3063240"/>
            <a:ext cx="265176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3685032" y="3291840"/>
            <a:ext cx="502920" cy="50292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database.png" id="170" name="Google Shape;17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5791" y="342259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6"/>
          <p:cNvSpPr txBox="1"/>
          <p:nvPr/>
        </p:nvSpPr>
        <p:spPr>
          <a:xfrm>
            <a:off x="3657600" y="3977640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Arquitectura y modelos de datos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 txBox="1"/>
          <p:nvPr/>
        </p:nvSpPr>
        <p:spPr>
          <a:xfrm>
            <a:off x="3657600" y="4636008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API REST con FastAPI y base de datos PostgreSQL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272784" y="3063240"/>
            <a:ext cx="265176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501384" y="329184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lipboard.png" id="175" name="Google Shape;1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32143" y="342259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6473952" y="3977640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Gestión ágil de proyectos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6473952" y="4636008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Metodología Scrum en 12 sprints semanales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9089136" y="3063240"/>
            <a:ext cx="265176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9317736" y="3291840"/>
            <a:ext cx="502920" cy="50292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shield.png" id="180" name="Google Shape;18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48495" y="342259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 txBox="1"/>
          <p:nvPr/>
        </p:nvSpPr>
        <p:spPr>
          <a:xfrm>
            <a:off x="9290304" y="3977640"/>
            <a:ext cx="224942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Estándares y regulación de 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9290304" y="4636008"/>
            <a:ext cx="22494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EU AI Act, GDPR, ISO 42001, NIST AI RMF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PERFIL DE EGRESO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Competencias movilizadas por el proyecto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40080" y="1874520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lipboard.png" id="192" name="Google Shape;19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388" y="2052828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7"/>
          <p:cNvSpPr/>
          <p:nvPr/>
        </p:nvSpPr>
        <p:spPr>
          <a:xfrm>
            <a:off x="1508760" y="1874520"/>
            <a:ext cx="1001268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1737360" y="1965960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Gestionar proyectos informáticos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1737360" y="2350008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12 sprints Scrum, priorización de alcance y toma de decisiones informadas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640080" y="3044952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database.png" id="197" name="Google Shape;19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388" y="32232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1508760" y="3044952"/>
            <a:ext cx="1001268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 txBox="1"/>
          <p:nvPr/>
        </p:nvSpPr>
        <p:spPr>
          <a:xfrm>
            <a:off x="1737360" y="31363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Construir modelos de datos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 txBox="1"/>
          <p:nvPr/>
        </p:nvSpPr>
        <p:spPr>
          <a:xfrm>
            <a:off x="1737360" y="352044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Esquema PostgreSQL escalable: organizaciones, cuestionarios, respuestas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40080" y="4215384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ode.png" id="202" name="Google Shape;20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388" y="439369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1508760" y="4215384"/>
            <a:ext cx="1001268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1737360" y="4306824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Desarrollar soluciones de software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1737360" y="4690872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API REST con FastAPI siguiendo convenciones y buenas prácticas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40080" y="5385816"/>
            <a:ext cx="685800" cy="6858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heck.png" id="207" name="Google Shape;207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8388" y="5564124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1508760" y="5385816"/>
            <a:ext cx="10012680" cy="1005840"/>
          </a:xfrm>
          <a:prstGeom prst="roundRect">
            <a:avLst>
              <a:gd fmla="val 7273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1737360" y="5477256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Realizar pruebas de certificación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 txBox="1"/>
          <p:nvPr/>
        </p:nvSpPr>
        <p:spPr>
          <a:xfrm>
            <a:off x="1737360" y="5861304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Validación de endpoints, cálculo de indicadores y criterios de aceptación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B3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7B32B"/>
                </a:solidFill>
                <a:latin typeface="Calibri"/>
                <a:ea typeface="Calibri"/>
                <a:cs typeface="Calibri"/>
                <a:sym typeface="Calibri"/>
              </a:rPr>
              <a:t>ARQUITECTURA TÉCNICA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Stack tecnológico de la plataforma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40080" y="1965960"/>
            <a:ext cx="7863840" cy="713232"/>
          </a:xfrm>
          <a:prstGeom prst="roundRect">
            <a:avLst>
              <a:gd fmla="val 10256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914400" y="1965960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Frontend web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3749040" y="1965960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+ TypeScript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640080" y="2843784"/>
            <a:ext cx="7863840" cy="713232"/>
          </a:xfrm>
          <a:prstGeom prst="roundRect">
            <a:avLst>
              <a:gd fmla="val 10256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914400" y="2843784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Aplicación móvil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3749040" y="2843784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Native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640080" y="3721608"/>
            <a:ext cx="7863840" cy="713232"/>
          </a:xfrm>
          <a:prstGeom prst="roundRect">
            <a:avLst>
              <a:gd fmla="val 10256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 txBox="1"/>
          <p:nvPr/>
        </p:nvSpPr>
        <p:spPr>
          <a:xfrm>
            <a:off x="914400" y="3721608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Backend / API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3749040" y="3721608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FastAPI (Python)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640080" y="4599432"/>
            <a:ext cx="7863840" cy="713232"/>
          </a:xfrm>
          <a:prstGeom prst="roundRect">
            <a:avLst>
              <a:gd fmla="val 10256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914400" y="4599432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 txBox="1"/>
          <p:nvPr/>
        </p:nvSpPr>
        <p:spPr>
          <a:xfrm>
            <a:off x="3749040" y="4599432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 + SQLAlchemy + Alembic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640080" y="5477256"/>
            <a:ext cx="7863840" cy="713232"/>
          </a:xfrm>
          <a:prstGeom prst="roundRect">
            <a:avLst>
              <a:gd fmla="val 10256" name="adj"/>
            </a:avLst>
          </a:prstGeom>
          <a:solidFill>
            <a:srgbClr val="141A47"/>
          </a:solidFill>
          <a:ln cap="flat" cmpd="sng" w="952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 txBox="1"/>
          <p:nvPr/>
        </p:nvSpPr>
        <p:spPr>
          <a:xfrm>
            <a:off x="914400" y="5477256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Infraestructura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3749040" y="5477256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Despliegue en Vercel · CI/CD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8823960" y="1965960"/>
            <a:ext cx="2743200" cy="4434840"/>
          </a:xfrm>
          <a:prstGeom prst="roundRect">
            <a:avLst>
              <a:gd fmla="val 3333" name="adj"/>
            </a:avLst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 txBox="1"/>
          <p:nvPr/>
        </p:nvSpPr>
        <p:spPr>
          <a:xfrm>
            <a:off x="9052560" y="214884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 txBox="1"/>
          <p:nvPr/>
        </p:nvSpPr>
        <p:spPr>
          <a:xfrm>
            <a:off x="9052560" y="28346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A4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A47"/>
                </a:solidFill>
                <a:latin typeface="Calibri"/>
                <a:ea typeface="Calibri"/>
                <a:cs typeface="Calibri"/>
                <a:sym typeface="Calibri"/>
              </a:rPr>
              <a:t>tablas 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A4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A47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p8"/>
          <p:cNvCxnSpPr/>
          <p:nvPr/>
        </p:nvCxnSpPr>
        <p:spPr>
          <a:xfrm>
            <a:off x="9052560" y="3566160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p8"/>
          <p:cNvSpPr txBox="1"/>
          <p:nvPr/>
        </p:nvSpPr>
        <p:spPr>
          <a:xfrm>
            <a:off x="9052560" y="3703320"/>
            <a:ext cx="2286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9052560" y="43891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A4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A47"/>
                </a:solidFill>
                <a:latin typeface="Calibri"/>
                <a:ea typeface="Calibri"/>
                <a:cs typeface="Calibri"/>
                <a:sym typeface="Calibri"/>
              </a:rPr>
              <a:t>historias 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41A4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41A47"/>
                </a:solidFill>
                <a:latin typeface="Calibri"/>
                <a:ea typeface="Calibri"/>
                <a:cs typeface="Calibri"/>
                <a:sym typeface="Calibri"/>
              </a:rPr>
              <a:t>usuario definidas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8"/>
          <p:cNvCxnSpPr/>
          <p:nvPr/>
        </p:nvCxnSpPr>
        <p:spPr>
          <a:xfrm>
            <a:off x="9052560" y="5120640"/>
            <a:ext cx="2286000" cy="0"/>
          </a:xfrm>
          <a:prstGeom prst="straightConnector1">
            <a:avLst/>
          </a:prstGeom>
          <a:noFill/>
          <a:ln cap="flat" cmpd="sng" w="952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8"/>
          <p:cNvSpPr txBox="1"/>
          <p:nvPr/>
        </p:nvSpPr>
        <p:spPr>
          <a:xfrm>
            <a:off x="9052560" y="52578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9052560" y="580644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A4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41A47"/>
                </a:solidFill>
                <a:latin typeface="Calibri"/>
                <a:ea typeface="Calibri"/>
                <a:cs typeface="Calibri"/>
                <a:sym typeface="Calibri"/>
              </a:rPr>
              <a:t>actores del 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DISEÑO DE LA SOLUCIÓN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Del requerimiento al modelo técnico completo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40080" y="1874520"/>
            <a:ext cx="3520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lipboard.png" id="253" name="Google Shape;2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439" y="22338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 txBox="1"/>
          <p:nvPr/>
        </p:nvSpPr>
        <p:spPr>
          <a:xfrm>
            <a:off x="868680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Requerimientos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868680" y="3081528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Historias de usuario (IEEE830)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4343400" y="1874520"/>
            <a:ext cx="3520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4572000" y="21031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project.png" id="258" name="Google Shape;2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2759" y="22338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9"/>
          <p:cNvSpPr txBox="1"/>
          <p:nvPr/>
        </p:nvSpPr>
        <p:spPr>
          <a:xfrm>
            <a:off x="4572000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Casos de uso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4572000" y="3081528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5 actores, incluye Stripe como sistema externo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8046720" y="1874520"/>
            <a:ext cx="3520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8275320" y="210312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layers.png" id="263" name="Google Shape;26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06079" y="223387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9"/>
          <p:cNvSpPr txBox="1"/>
          <p:nvPr/>
        </p:nvSpPr>
        <p:spPr>
          <a:xfrm>
            <a:off x="8275320" y="274320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Diagrama de clases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 txBox="1"/>
          <p:nvPr/>
        </p:nvSpPr>
        <p:spPr>
          <a:xfrm>
            <a:off x="8275320" y="3081528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8 clases: User, Organization, Assessment...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40080" y="3886200"/>
            <a:ext cx="3520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ogs.png" id="268" name="Google Shape;26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9439" y="42455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9"/>
          <p:cNvSpPr txBox="1"/>
          <p:nvPr/>
        </p:nvSpPr>
        <p:spPr>
          <a:xfrm>
            <a:off x="868680" y="47548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Diagrama de actividad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 txBox="1"/>
          <p:nvPr/>
        </p:nvSpPr>
        <p:spPr>
          <a:xfrm>
            <a:off x="868680" y="5093208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BPMN con 4 carriles y compuertas paralelas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4343400" y="3886200"/>
            <a:ext cx="3520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4572000" y="4114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database.png" id="273" name="Google Shape;27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2759" y="42455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 txBox="1"/>
          <p:nvPr/>
        </p:nvSpPr>
        <p:spPr>
          <a:xfrm>
            <a:off x="4572000" y="47548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Modelo de base de datos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 txBox="1"/>
          <p:nvPr/>
        </p:nvSpPr>
        <p:spPr>
          <a:xfrm>
            <a:off x="4572000" y="5093208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9 tablas PostgreSQL con integridad referencial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8046720" y="3886200"/>
            <a:ext cx="3520440" cy="18288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E2761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8275320" y="411480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ode.png" id="278" name="Google Shape;278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06079" y="4245559"/>
            <a:ext cx="241402" cy="24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 txBox="1"/>
          <p:nvPr/>
        </p:nvSpPr>
        <p:spPr>
          <a:xfrm>
            <a:off x="8275320" y="4754880"/>
            <a:ext cx="3063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Interfaz implementada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 txBox="1"/>
          <p:nvPr/>
        </p:nvSpPr>
        <p:spPr>
          <a:xfrm>
            <a:off x="8275320" y="5093208"/>
            <a:ext cx="3063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Desplegada en producción — Vercel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12 semanas, 12 sprints, un equipo de </a:t>
            </a:r>
            <a:r>
              <a:rPr b="1" lang="en-US" sz="2700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r>
              <a:rPr b="1" i="0" lang="en-US" sz="27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 personas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640080" y="2743200"/>
            <a:ext cx="10881360" cy="502920"/>
          </a:xfrm>
          <a:prstGeom prst="roundRect">
            <a:avLst>
              <a:gd fmla="val 14545" name="adj"/>
            </a:avLst>
          </a:prstGeom>
          <a:solidFill>
            <a:srgbClr val="E7EA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0"/>
          <p:cNvSpPr/>
          <p:nvPr/>
        </p:nvSpPr>
        <p:spPr>
          <a:xfrm>
            <a:off x="685800" y="2788920"/>
            <a:ext cx="2628900" cy="41148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 txBox="1"/>
          <p:nvPr/>
        </p:nvSpPr>
        <p:spPr>
          <a:xfrm>
            <a:off x="640080" y="2743200"/>
            <a:ext cx="27203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S1–S3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0"/>
          <p:cNvSpPr txBox="1"/>
          <p:nvPr/>
        </p:nvSpPr>
        <p:spPr>
          <a:xfrm>
            <a:off x="731520" y="3429000"/>
            <a:ext cx="25374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Fundaciones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 arquitectura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3406140" y="2788920"/>
            <a:ext cx="2628900" cy="411480"/>
          </a:xfrm>
          <a:prstGeom prst="roundRect">
            <a:avLst>
              <a:gd fmla="val 13333" name="adj"/>
            </a:avLst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 txBox="1"/>
          <p:nvPr/>
        </p:nvSpPr>
        <p:spPr>
          <a:xfrm>
            <a:off x="3360420" y="2743200"/>
            <a:ext cx="27203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S4–S6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 txBox="1"/>
          <p:nvPr/>
        </p:nvSpPr>
        <p:spPr>
          <a:xfrm>
            <a:off x="3451860" y="3429000"/>
            <a:ext cx="25374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Desarrollo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funcional (MVP)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6126480" y="2788920"/>
            <a:ext cx="2628900" cy="41148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 txBox="1"/>
          <p:nvPr/>
        </p:nvSpPr>
        <p:spPr>
          <a:xfrm>
            <a:off x="6080760" y="2743200"/>
            <a:ext cx="27203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S7–S9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6172200" y="3429000"/>
            <a:ext cx="25374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Áreas y kits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 diagnóstico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8846820" y="2788920"/>
            <a:ext cx="2628900" cy="411480"/>
          </a:xfrm>
          <a:prstGeom prst="roundRect">
            <a:avLst>
              <a:gd fmla="val 13333" name="adj"/>
            </a:avLst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 txBox="1"/>
          <p:nvPr/>
        </p:nvSpPr>
        <p:spPr>
          <a:xfrm>
            <a:off x="8801100" y="2743200"/>
            <a:ext cx="27203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S10–S12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8892540" y="3429000"/>
            <a:ext cx="25374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Estabilización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y release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640080" y="4297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Hito · MVP funcional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640080" y="4572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Sprint 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4023360" y="42976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Hito · Release a producción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4023360" y="45720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Sprint 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7680960" y="4206240"/>
            <a:ext cx="3840480" cy="1737360"/>
          </a:xfrm>
          <a:prstGeom prst="roundRect">
            <a:avLst>
              <a:gd fmla="val 5263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0"/>
          <p:cNvSpPr txBox="1"/>
          <p:nvPr/>
        </p:nvSpPr>
        <p:spPr>
          <a:xfrm>
            <a:off x="7909560" y="4343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B3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7B32B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7909560" y="4663440"/>
            <a:ext cx="3383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Scrum · sprints semanales · story points Fibonacci · tablero Backlog → Ready → In Progress → In Review → QA → Done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FACTIBILIDAD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Un proyecto realista dentro del marco de la asignatura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640080" y="2011680"/>
            <a:ext cx="3520440" cy="356616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914400" y="2286000"/>
            <a:ext cx="594360" cy="59436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lock.png" id="319" name="Google Shape;3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934" y="24405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1"/>
          <p:cNvSpPr txBox="1"/>
          <p:nvPr/>
        </p:nvSpPr>
        <p:spPr>
          <a:xfrm>
            <a:off x="914400" y="30632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Tiempo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 txBox="1"/>
          <p:nvPr/>
        </p:nvSpPr>
        <p:spPr>
          <a:xfrm>
            <a:off x="914400" y="3584448"/>
            <a:ext cx="2971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Plan de 12 semanas con hitos de MVP (S6) y release (S12) claramente definidos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343400" y="2011680"/>
            <a:ext cx="3520440" cy="3566160"/>
          </a:xfrm>
          <a:prstGeom prst="roundRect">
            <a:avLst>
              <a:gd fmla="val 2597" name="adj"/>
            </a:avLst>
          </a:prstGeom>
          <a:solidFill>
            <a:srgbClr val="1E2761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617720" y="2286000"/>
            <a:ext cx="594360" cy="594360"/>
          </a:xfrm>
          <a:prstGeom prst="ellipse">
            <a:avLst/>
          </a:prstGeom>
          <a:solidFill>
            <a:srgbClr val="F7B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ogs.png" id="324" name="Google Shape;32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72254" y="24405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 txBox="1"/>
          <p:nvPr/>
        </p:nvSpPr>
        <p:spPr>
          <a:xfrm>
            <a:off x="4617720" y="30632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617720" y="3584448"/>
            <a:ext cx="2971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7EAF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7EAF1"/>
                </a:solidFill>
                <a:latin typeface="Calibri"/>
                <a:ea typeface="Calibri"/>
                <a:cs typeface="Calibri"/>
                <a:sym typeface="Calibri"/>
              </a:rPr>
              <a:t>Stack gratuito y de amplio soporte: FastAPI, PostgreSQL, React y React Native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8046720" y="2011680"/>
            <a:ext cx="3520440" cy="356616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 cap="flat" cmpd="sng" w="12700">
            <a:solidFill>
              <a:srgbClr val="E7EA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8321040" y="2286000"/>
            <a:ext cx="594360" cy="59436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shield.png" id="329" name="Google Shape;32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5574" y="2440534"/>
            <a:ext cx="285293" cy="285293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1"/>
          <p:cNvSpPr txBox="1"/>
          <p:nvPr/>
        </p:nvSpPr>
        <p:spPr>
          <a:xfrm>
            <a:off x="8321040" y="306324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Factor externo y mitigación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 txBox="1"/>
          <p:nvPr/>
        </p:nvSpPr>
        <p:spPr>
          <a:xfrm>
            <a:off x="8321040" y="3584448"/>
            <a:ext cx="2971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Paridad web/móvil: track móvil dedicado desde etapas tempranas y contratos de API estables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B32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7B32B"/>
                </a:solidFill>
                <a:latin typeface="Calibri"/>
                <a:ea typeface="Calibri"/>
                <a:cs typeface="Calibri"/>
                <a:sym typeface="Calibri"/>
              </a:rPr>
              <a:t>DE LA IDEA AL PRODUCTO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La plataforma ya está desplegada en producción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2"/>
          <p:cNvSpPr/>
          <p:nvPr/>
        </p:nvSpPr>
        <p:spPr>
          <a:xfrm>
            <a:off x="2571750" y="4347463"/>
            <a:ext cx="6795600" cy="1240800"/>
          </a:xfrm>
          <a:prstGeom prst="roundRect">
            <a:avLst>
              <a:gd fmla="val 6792" name="adj"/>
            </a:avLst>
          </a:prstGeom>
          <a:solidFill>
            <a:srgbClr val="141A47"/>
          </a:solidFill>
          <a:ln cap="flat" cmpd="sng" w="1587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2994965" y="2766038"/>
            <a:ext cx="6108600" cy="1240800"/>
          </a:xfrm>
          <a:prstGeom prst="roundRect">
            <a:avLst>
              <a:gd fmla="val 6792" name="adj"/>
            </a:avLst>
          </a:prstGeom>
          <a:solidFill>
            <a:srgbClr val="141A47"/>
          </a:solidFill>
          <a:ln cap="flat" cmpd="sng" w="15875">
            <a:solidFill>
              <a:srgbClr val="0FA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2"/>
          <p:cNvSpPr txBox="1"/>
          <p:nvPr/>
        </p:nvSpPr>
        <p:spPr>
          <a:xfrm>
            <a:off x="3904644" y="3055174"/>
            <a:ext cx="4545000" cy="6627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i="0" lang="en-US" sz="17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Proyecto Fase 1 -</a:t>
            </a:r>
            <a:r>
              <a:rPr lang="en-US" sz="17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endParaRPr sz="1700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[</a:t>
            </a:r>
            <a:r>
              <a:rPr b="0" i="0" lang="en-US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https://tryaigap.vercel.</a:t>
            </a:r>
            <a:r>
              <a:rPr b="0" i="0" lang="en-US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app/</a:t>
            </a: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</p:txBody>
      </p:sp>
      <p:sp>
        <p:nvSpPr>
          <p:cNvPr id="343" name="Google Shape;343;p12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2"/>
          <p:cNvSpPr txBox="1"/>
          <p:nvPr/>
        </p:nvSpPr>
        <p:spPr>
          <a:xfrm>
            <a:off x="3071083" y="4610285"/>
            <a:ext cx="5956200" cy="715200"/>
          </a:xfrm>
          <a:prstGeom prst="rect">
            <a:avLst/>
          </a:prstGeom>
          <a:solidFill>
            <a:schemeClr val="dk1"/>
          </a:solidFill>
          <a:ln cap="flat" cmpd="sng" w="3810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Calibri"/>
              <a:buNone/>
            </a:pPr>
            <a:r>
              <a:rPr i="0" lang="en-US" sz="17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Versión inicial entregada sin mejoras </a:t>
            </a:r>
            <a:r>
              <a:rPr lang="en-US" sz="1700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 - </a:t>
            </a: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</a:t>
            </a:r>
            <a:r>
              <a:rPr b="0" i="0" lang="en-US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https://tryaigap-version-inicial.vercel.app/</a:t>
            </a:r>
            <a:r>
              <a:rPr b="0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]</a:t>
            </a:r>
            <a:endParaRPr/>
          </a:p>
        </p:txBody>
      </p:sp>
      <p:sp>
        <p:nvSpPr>
          <p:cNvPr id="345" name="Google Shape;345;p12"/>
          <p:cNvSpPr txBox="1"/>
          <p:nvPr/>
        </p:nvSpPr>
        <p:spPr>
          <a:xfrm>
            <a:off x="736499" y="1481850"/>
            <a:ext cx="6261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450"/>
              <a:buFont typeface="Calibri"/>
              <a:buNone/>
            </a:pPr>
            <a:r>
              <a:rPr lang="en-US" sz="14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diferencia de un mockup estático, la plataforma fue entregada por la empresa Alloxentric ya desplegada en producción.</a:t>
            </a:r>
            <a:endParaRPr b="0" i="0" sz="14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3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A3B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A3B1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De la definición a la implementación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F7B3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rocket.png" id="354" name="Google Shape;3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501" y="222382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3"/>
          <p:cNvSpPr txBox="1"/>
          <p:nvPr/>
        </p:nvSpPr>
        <p:spPr>
          <a:xfrm>
            <a:off x="1508760" y="203911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Iniciar el desarrollo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 txBox="1"/>
          <p:nvPr/>
        </p:nvSpPr>
        <p:spPr>
          <a:xfrm>
            <a:off x="1508760" y="2386584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Comenzar la ejecución del Sprint 1 según el plan de 12 semanas ya definido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640080" y="310896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users.png" id="358" name="Google Shape;3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501" y="327538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3"/>
          <p:cNvSpPr txBox="1"/>
          <p:nvPr/>
        </p:nvSpPr>
        <p:spPr>
          <a:xfrm>
            <a:off x="1508760" y="309067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Validar con usuarios reales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1508760" y="3438144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Incorporar retroalimentación temprana sobre el flujo de diagnóstico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640080" y="416052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chart.png" id="362" name="Google Shape;36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501" y="43269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3"/>
          <p:cNvSpPr txBox="1"/>
          <p:nvPr/>
        </p:nvSpPr>
        <p:spPr>
          <a:xfrm>
            <a:off x="1508760" y="4142232"/>
            <a:ext cx="9966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Ampliar los kits funcionales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3"/>
          <p:cNvSpPr txBox="1"/>
          <p:nvPr/>
        </p:nvSpPr>
        <p:spPr>
          <a:xfrm>
            <a:off x="1508760" y="4489704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Profundizar el catálogo de casos de uso por área de negocio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4"/>
          <p:cNvSpPr/>
          <p:nvPr/>
        </p:nvSpPr>
        <p:spPr>
          <a:xfrm>
            <a:off x="-2286000" y="3474720"/>
            <a:ext cx="5943600" cy="5943600"/>
          </a:xfrm>
          <a:prstGeom prst="ellipse">
            <a:avLst/>
          </a:prstGeom>
          <a:solidFill>
            <a:srgbClr val="141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4"/>
          <p:cNvSpPr/>
          <p:nvPr/>
        </p:nvSpPr>
        <p:spPr>
          <a:xfrm>
            <a:off x="5623560" y="1371600"/>
            <a:ext cx="914400" cy="914400"/>
          </a:xfrm>
          <a:prstGeom prst="ellipse">
            <a:avLst/>
          </a:prstGeom>
          <a:solidFill>
            <a:srgbClr val="0FA3B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x_project/icon_handshake.png" id="373" name="Google Shape;3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1304" y="16093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4"/>
          <p:cNvSpPr txBox="1"/>
          <p:nvPr/>
        </p:nvSpPr>
        <p:spPr>
          <a:xfrm>
            <a:off x="0" y="2743200"/>
            <a:ext cx="121615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 txBox="1"/>
          <p:nvPr/>
        </p:nvSpPr>
        <p:spPr>
          <a:xfrm>
            <a:off x="0" y="3703320"/>
            <a:ext cx="12161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7EAF1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E7EAF1"/>
                </a:solidFill>
                <a:latin typeface="Calibri"/>
                <a:ea typeface="Calibri"/>
                <a:cs typeface="Calibri"/>
                <a:sym typeface="Calibri"/>
              </a:rPr>
              <a:t>Preguntas y comentarios bienvenidos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 txBox="1"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Matías González · Fabrizio Martínez · Matías López   —   DuocUC · Capstone 003D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11338560" y="635508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478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2026-09-07T18:29:07Z</dcterms:created>
  <dc:creator>PptxGenJS</dc:creator>
</cp:coreProperties>
</file>